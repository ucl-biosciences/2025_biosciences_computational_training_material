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0" autoAdjust="0"/>
    <p:restoredTop sz="62678" autoAdjust="0"/>
  </p:normalViewPr>
  <p:slideViewPr>
    <p:cSldViewPr snapToGrid="0">
      <p:cViewPr varScale="1">
        <p:scale>
          <a:sx n="62" d="100"/>
          <a:sy n="62" d="100"/>
        </p:scale>
        <p:origin x="834" y="21"/>
      </p:cViewPr>
      <p:guideLst/>
    </p:cSldViewPr>
  </p:slideViewPr>
  <p:notesTextViewPr>
    <p:cViewPr>
      <p:scale>
        <a:sx n="3" d="2"/>
        <a:sy n="3" d="2"/>
      </p:scale>
      <p:origin x="0" y="-3609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92D93-35A3-44C6-BED6-86990ACAF6D7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A288A-00DD-463F-9FB3-058518B56A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636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  <a:p>
            <a:endParaRPr lang="en-GB" dirty="0"/>
          </a:p>
          <a:p>
            <a:r>
              <a:rPr lang="en-GB" dirty="0"/>
              <a:t>- As people enter – please, follow QR code to sign in on </a:t>
            </a:r>
            <a:r>
              <a:rPr lang="en-GB" dirty="0" err="1"/>
              <a:t>hackmd</a:t>
            </a:r>
            <a:r>
              <a:rPr lang="en-GB" dirty="0"/>
              <a:t> and join the slack channel.</a:t>
            </a:r>
          </a:p>
          <a:p>
            <a:pPr marL="171450" indent="-171450">
              <a:buFontTx/>
              <a:buChar char="-"/>
            </a:pPr>
            <a:r>
              <a:rPr lang="en-GB" dirty="0"/>
              <a:t>Introduce instructors including a bit about ARC from David or Mahmoud</a:t>
            </a:r>
          </a:p>
          <a:p>
            <a:pPr marL="171450" indent="-171450">
              <a:buFontTx/>
              <a:buChar char="-"/>
            </a:pPr>
            <a:r>
              <a:rPr lang="en-GB" dirty="0"/>
              <a:t>Training overview</a:t>
            </a:r>
          </a:p>
          <a:p>
            <a:pPr marL="628650" lvl="1" indent="-171450">
              <a:buFontTx/>
              <a:buChar char="-"/>
            </a:pPr>
            <a:r>
              <a:rPr lang="en-GB" b="1" dirty="0"/>
              <a:t>5 workshops that fit together </a:t>
            </a:r>
            <a:r>
              <a:rPr lang="en-GB" dirty="0"/>
              <a:t>into hopefully a coherent overview of the skills and concepts required for robust, efficient, reproducible biological research</a:t>
            </a:r>
          </a:p>
          <a:p>
            <a:pPr marL="628650" lvl="1" indent="-171450">
              <a:buFontTx/>
              <a:buChar char="-"/>
            </a:pPr>
            <a:r>
              <a:rPr lang="en-GB" dirty="0"/>
              <a:t>Follows carpentries format – </a:t>
            </a:r>
            <a:r>
              <a:rPr lang="en-GB" b="1" dirty="0"/>
              <a:t>lots of participation</a:t>
            </a:r>
            <a:r>
              <a:rPr lang="en-GB" b="0" dirty="0"/>
              <a:t> t</a:t>
            </a:r>
            <a:r>
              <a:rPr lang="en-GB" dirty="0"/>
              <a:t>hrough coding and discussion. Please get involved.</a:t>
            </a:r>
          </a:p>
          <a:p>
            <a:pPr marL="628650" lvl="1" indent="-171450">
              <a:buFontTx/>
              <a:buChar char="-"/>
            </a:pPr>
            <a:r>
              <a:rPr lang="en-GB" b="1" dirty="0"/>
              <a:t>Topics are chosen based on discussions</a:t>
            </a:r>
            <a:r>
              <a:rPr lang="en-GB" dirty="0"/>
              <a:t> with PIs and ECRs in Biosciences. </a:t>
            </a:r>
            <a:r>
              <a:rPr lang="en-GB" b="1" dirty="0"/>
              <a:t>Also</a:t>
            </a:r>
            <a:r>
              <a:rPr lang="en-GB" dirty="0"/>
              <a:t> reflect my own </a:t>
            </a:r>
            <a:r>
              <a:rPr lang="en-GB" b="1" dirty="0"/>
              <a:t>experience</a:t>
            </a:r>
            <a:r>
              <a:rPr lang="en-GB" dirty="0"/>
              <a:t>. A bunch of essential research tools that I wish I heard about earlier.</a:t>
            </a:r>
          </a:p>
          <a:p>
            <a:pPr marL="628650" lvl="1" indent="-171450">
              <a:buFontTx/>
              <a:buChar char="-"/>
            </a:pPr>
            <a:r>
              <a:rPr lang="en-GB" b="1" dirty="0"/>
              <a:t>Each week we’ll be joined by experts </a:t>
            </a:r>
            <a:r>
              <a:rPr lang="en-GB" dirty="0"/>
              <a:t>in ARC, Learn To Discover and Microsoft – real experts delivering the training</a:t>
            </a:r>
          </a:p>
          <a:p>
            <a:pPr marL="628650" lvl="1" indent="-171450">
              <a:buFontTx/>
              <a:buChar char="-"/>
            </a:pPr>
            <a:r>
              <a:rPr lang="en-GB" dirty="0"/>
              <a:t>Please try to make as many sessions as you can – they fit together.</a:t>
            </a:r>
          </a:p>
          <a:p>
            <a:pPr marL="628650" lvl="1" indent="-171450">
              <a:buFontTx/>
              <a:buChar char="-"/>
            </a:pPr>
            <a:r>
              <a:rPr lang="en-GB" dirty="0"/>
              <a:t>The sessions are short – we can’t fit a deep technical lesson in each week. We aim to provide intro to the concepts and benefits, as well as the tools to get going.</a:t>
            </a:r>
          </a:p>
          <a:p>
            <a:pPr marL="171450" lvl="0" indent="-171450">
              <a:buFontTx/>
              <a:buChar char="-"/>
            </a:pPr>
            <a:r>
              <a:rPr lang="en-GB" dirty="0"/>
              <a:t>We also see this as an opportunity to meet people across the Division, so with that in mind</a:t>
            </a:r>
          </a:p>
          <a:p>
            <a:pPr marL="628650" lvl="1" indent="-171450">
              <a:buFontTx/>
              <a:buChar char="-"/>
            </a:pPr>
            <a:r>
              <a:rPr lang="en-GB" dirty="0"/>
              <a:t>Intro – participants</a:t>
            </a:r>
          </a:p>
          <a:p>
            <a:pPr marL="628650" lvl="1" indent="-171450">
              <a:buFontTx/>
              <a:buChar char="-"/>
            </a:pPr>
            <a:r>
              <a:rPr lang="en-GB" dirty="0"/>
              <a:t>Across Biosciences, roles and with varying levels of expertise.</a:t>
            </a:r>
          </a:p>
          <a:p>
            <a:pPr marL="628650" lvl="1" indent="-171450">
              <a:buFontTx/>
              <a:buChar char="-"/>
            </a:pPr>
            <a:r>
              <a:rPr lang="en-GB" dirty="0"/>
              <a:t>In pairs/small groups, share:</a:t>
            </a:r>
          </a:p>
          <a:p>
            <a:pPr marL="1085850" lvl="2" indent="-171450">
              <a:buFontTx/>
              <a:buChar char="-"/>
            </a:pPr>
            <a:r>
              <a:rPr lang="en-GB" dirty="0"/>
              <a:t>Names, departments and brief research intro</a:t>
            </a:r>
          </a:p>
          <a:p>
            <a:pPr marL="1085850" lvl="2" indent="-171450">
              <a:buFontTx/>
              <a:buChar char="-"/>
            </a:pPr>
            <a:r>
              <a:rPr lang="en-GB" dirty="0"/>
              <a:t>What is the current limit/bottleneck/source of pain in your computational life?</a:t>
            </a:r>
          </a:p>
          <a:p>
            <a:pPr marL="1085850" lvl="2" indent="-171450">
              <a:buFontTx/>
              <a:buChar char="-"/>
            </a:pPr>
            <a:r>
              <a:rPr lang="en-GB" dirty="0"/>
              <a:t>What would a better solution look like?</a:t>
            </a:r>
          </a:p>
          <a:p>
            <a:pPr marL="1085850" lvl="2" indent="-171450">
              <a:buFontTx/>
              <a:buChar char="-"/>
            </a:pPr>
            <a:endParaRPr lang="en-GB" dirty="0"/>
          </a:p>
          <a:p>
            <a:pPr marL="628650" lvl="1" indent="-171450">
              <a:buFontTx/>
              <a:buChar char="-"/>
            </a:pPr>
            <a:r>
              <a:rPr lang="en-GB" dirty="0"/>
              <a:t>Maybe share some highlights in the class?</a:t>
            </a:r>
          </a:p>
          <a:p>
            <a:pPr marL="171450" lvl="0" indent="-171450">
              <a:buFontTx/>
              <a:buChar char="-"/>
            </a:pPr>
            <a:endParaRPr lang="en-GB" dirty="0"/>
          </a:p>
          <a:p>
            <a:pPr marL="171450" lvl="0" indent="-171450">
              <a:buFontTx/>
              <a:buChar char="-"/>
            </a:pPr>
            <a:endParaRPr lang="en-GB" dirty="0"/>
          </a:p>
          <a:p>
            <a:pPr marL="171450" lvl="0" indent="-171450">
              <a:buFontTx/>
              <a:buChar char="-"/>
            </a:pPr>
            <a:endParaRPr lang="en-GB" dirty="0"/>
          </a:p>
          <a:p>
            <a:pPr marL="171450" lvl="0" indent="-171450">
              <a:buFontTx/>
              <a:buChar char="-"/>
            </a:pPr>
            <a:endParaRPr lang="en-GB" dirty="0"/>
          </a:p>
          <a:p>
            <a:pPr marL="171450" lvl="0" indent="-171450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A288A-00DD-463F-9FB3-058518B56A6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576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7649D-C0B2-D80D-5DDC-3D56FCD0D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CA3235-177E-630D-9D31-44152C5064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A3297-A191-7996-42C1-6C1DC8776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A20E-DE28-4FE1-926C-168FFCDC1582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AA90A-0444-1567-254F-81D90386A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FB24C-4A30-4370-9B39-8FE62B4DF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43AE-275A-4845-B886-3F61986778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582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78D18-D79F-3177-A69F-C39136AF3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7D727-AE4F-4BA5-1279-6DBA90A7E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F0F63-B911-5F31-21FA-9429B371F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A20E-DE28-4FE1-926C-168FFCDC1582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E781F-C192-0702-BDD2-92FF179E0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4338A-D644-3745-0A5F-C308FA136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43AE-275A-4845-B886-3F61986778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4144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954D9-5054-C386-1656-AD7FB54DA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C9006-45B6-9AD5-CD51-2E4FDA2A4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39F6F-B5DC-6BAB-E499-87310D802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A20E-DE28-4FE1-926C-168FFCDC1582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D451-CDC6-A457-05D0-4EBD0207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D47B-ED90-8CB6-D9DF-068B18BC9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43AE-275A-4845-B886-3F61986778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86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52AE7-4CDD-8875-6E47-2952341C6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344F9-A855-0BC9-CBB8-EB84EE39F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F8A59-B561-4F29-FCA3-77E43F6F7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747C7-8781-23E2-3AB5-FF49D730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A20E-DE28-4FE1-926C-168FFCDC1582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D11F2-E9B6-379F-40FB-015E3F3E4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AC16F-0ADA-C4F9-4EEC-AFDA0458C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43AE-275A-4845-B886-3F61986778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862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8185-D65C-DBB3-7D28-23A597B24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C8080-4B07-CEB0-1E51-CA3C9EE45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CBF62-17C9-F705-15C9-7DCBB9896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40545D-F000-3BC8-B132-38A98C7CE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34C362-DEBD-7874-EC85-0F290D0FE6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28CC4A-D808-A6E7-324B-A524FB3DB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A20E-DE28-4FE1-926C-168FFCDC1582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74C7D5-FF13-6B91-76CF-9BF438470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AF724D-0CF7-DE6A-A0A5-CD215E39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43AE-275A-4845-B886-3F61986778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128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31B5-A955-DA7E-3D8B-5FE508EFB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A16DE6-F674-6246-106A-F5F05EDEC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A20E-DE28-4FE1-926C-168FFCDC1582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735B11-5805-341A-D517-CDDD666F5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ED736A-B6CD-28F2-6F90-5278F889A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43AE-275A-4845-B886-3F61986778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297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9BF2E7-6392-A55A-CC78-D7128231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A20E-DE28-4FE1-926C-168FFCDC1582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FBE64C-10D6-9B6C-CCE4-C4FE55088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9AB7D-A9A9-2A2D-0206-4F6CDB8CA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43AE-275A-4845-B886-3F61986778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578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3F43-3D52-467D-0E67-BAA177A54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314C1-F191-4432-4571-EF93D0A43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A1055C-AAF8-FDB6-7B3D-EB78BC56C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C4CDA-4367-16C5-C009-32E20D206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A20E-DE28-4FE1-926C-168FFCDC1582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B30A0-9E19-2163-A8D3-4181EDD0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A1FEF-F5C1-A4BE-8905-BC6A3C45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43AE-275A-4845-B886-3F61986778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082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34D74-4EF7-E150-9F73-FC93D296A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46F84E-EA1B-61FD-399E-FDAC97BD78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1EBF60-911C-CCBD-84B8-4AD313F38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64458-CE91-7F36-D59C-4B6E6BD87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A20E-DE28-4FE1-926C-168FFCDC1582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7C8C1-1B5E-49AC-9C2B-43545276E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32B57-B7EE-B09B-CE71-941FB1B61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43AE-275A-4845-B886-3F61986778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579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99267-B48B-4B0E-D4BF-943E576D6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92DDFF-D2F1-7154-89BC-F6ADB7E31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2BAE6-BEE8-7091-2FCB-429615D90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A20E-DE28-4FE1-926C-168FFCDC1582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8BAE8-1B57-11C2-95D0-A5315E9F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394AC-705A-09FF-B12B-0860FE8F1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43AE-275A-4845-B886-3F61986778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420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8337D9-7969-1EB1-D708-B548DD5AA1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BA11C-EC89-3E60-776C-CB5F2B34B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9A3CE-6410-FFE8-E5BF-5663CB870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A20E-DE28-4FE1-926C-168FFCDC1582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9F2BC-B018-69D9-CCBF-912EE4F5E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93773-DFF8-9F45-02DD-B68CB602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43AE-275A-4845-B886-3F61986778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829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3FDDD9-C1AB-E743-8C9C-9D17D4B52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7C9CE-EA7A-0DD0-F74A-0E6E205B0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836B6-A623-314E-1D12-3F4D9B895A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4BA20E-DE28-4FE1-926C-168FFCDC1582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31F21-1F2F-CDD9-63B9-AE7D1083B3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6BFA2-305E-107D-E468-0BBC962D7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743AE-275A-4845-B886-3F61986778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6143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E0464-695E-5C94-D4BB-298417148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0742"/>
            <a:ext cx="9144000" cy="2387600"/>
          </a:xfrm>
        </p:spPr>
        <p:txBody>
          <a:bodyPr/>
          <a:lstStyle/>
          <a:p>
            <a:r>
              <a:rPr lang="en-GB" dirty="0"/>
              <a:t>Biosciences Computational Training – Welcome!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75992-AB79-AC15-3B23-C6360A95D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599829" y="3942047"/>
            <a:ext cx="9144000" cy="2561111"/>
          </a:xfrm>
        </p:spPr>
        <p:txBody>
          <a:bodyPr>
            <a:normAutofit/>
          </a:bodyPr>
          <a:lstStyle/>
          <a:p>
            <a:r>
              <a:rPr lang="en-GB" dirty="0"/>
              <a:t>Please sign in here:</a:t>
            </a:r>
          </a:p>
          <a:p>
            <a:endParaRPr lang="en-GB" dirty="0"/>
          </a:p>
          <a:p>
            <a:r>
              <a:rPr lang="en-GB" dirty="0"/>
              <a:t>https://hackmd.io/GzP_OLqISf6e-6lmFnuv6g?edit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77DAB-24BC-83E7-2B02-280982662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407" y="2721220"/>
            <a:ext cx="3336878" cy="333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163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283</Words>
  <Application>Microsoft Office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Biosciences Computational Training – Welcome!</vt:lpstr>
    </vt:vector>
  </TitlesOfParts>
  <Company>University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Gilbert, James</dc:creator>
  <cp:lastModifiedBy>Gilbert, James</cp:lastModifiedBy>
  <cp:revision>4</cp:revision>
  <dcterms:created xsi:type="dcterms:W3CDTF">2025-11-04T15:39:48Z</dcterms:created>
  <dcterms:modified xsi:type="dcterms:W3CDTF">2025-11-05T13:19:10Z</dcterms:modified>
</cp:coreProperties>
</file>